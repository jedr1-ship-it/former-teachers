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7498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Former Teachers: Barriers, Incentives and Policy Lessons for Re-entry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leaving: what the research says and what it means for policy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2. Working draft. Directorate for Education and Skills.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re-entry is on the policy agenda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100"/>
              </a:lnSpc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Re-attracting former teachers relieves shortages in the short run, above all in the disadvantaged and rural schools where they concentrate. It does not close the gap on its own.</a:t>
            </a:r>
            <a:endParaRPr lang="en-US" sz="1500" dirty="0"/>
          </a:p>
          <a:p>
            <a:pPr algn="l" marL="228600" indent="-228600">
              <a:lnSpc>
                <a:spcPts val="2100"/>
              </a:lnSpc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is bounded: where leaving is almost all retirement (France, Greece, Ireland, Israel), the recoverable pool is small.</a:t>
            </a:r>
            <a:endParaRPr lang="en-US" sz="1500" dirty="0"/>
          </a:p>
          <a:p>
            <a:pPr algn="l" marL="228600" indent="-228600">
              <a:lnSpc>
                <a:spcPts val="2100"/>
              </a:lnSpc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Returners and retirees add value of their own: experience spillovers to colleagues, mentorship for beginners, tutoring roles with experimental backing.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teachers leave: six areas of motives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98448"/>
          <a:ext cx="78638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5715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Professional factors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of professional purpose; limited autonomy over the work; professional standing; exposure to parental complaint and legal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conditions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and total workload; pupil behaviour and classroom discipline; administrative demands; limited access to reduced hours; burnout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Organisational factors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School leadership; collegial support and team structure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Accountability and regulation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inspection and its consequences; certification and licensing requirements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factors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 relative to outside options; pension design and its timing incentives; contract insecurity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and life-course factors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formation and care; childbirth; health and incapacity; relocation and a partner's circumstances; retirement and career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473659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authors' elaboration on the literature reviewed in section 2.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hierarchy of motives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100"/>
              </a:lnSpc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conditions and the organisational features of the school are the most consistently important determinants of leaving, above financial incentives, accountability and personal characteristics (Nguyen et al., 2020; Gundlach, Slemp and Hattie, 2024).</a:t>
            </a:r>
            <a:endParaRPr lang="en-US" sz="1500" dirty="0"/>
          </a:p>
          <a:p>
            <a:pPr algn="l" marL="228600" indent="-228600">
              <a:lnSpc>
                <a:spcPts val="2100"/>
              </a:lnSpc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workload, stress and weak organisational support raise exits substantially; salary and regulation matter, but with smaller effects across determinants.</a:t>
            </a:r>
            <a:endParaRPr lang="en-US" sz="1500" dirty="0"/>
          </a:p>
          <a:p>
            <a:pPr algn="l" marL="228600" indent="-228600">
              <a:lnSpc>
                <a:spcPts val="2100"/>
              </a:lnSpc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conditions under which teaching takes place are the main institutional margin through which systems can influence retention.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motive teaches re-entry policy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100"/>
              </a:lnSpc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factors. </a:t>
            </a:r>
            <a:pPr algn="l" marL="228600" indent="-228600">
              <a:lnSpc>
                <a:spcPts val="2100"/>
              </a:lnSpc>
              <a:spcAft>
                <a:spcPts val="22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previous service, create roles that use returners' experience, give them voice in decisions about their own work.</a:t>
            </a:r>
            <a:endParaRPr lang="en-US" sz="1500" dirty="0"/>
          </a:p>
          <a:p>
            <a:pPr algn="l" marL="228600" indent="-228600">
              <a:lnSpc>
                <a:spcPts val="2100"/>
              </a:lnSpc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conditions. </a:t>
            </a:r>
            <a:pPr algn="l" marL="228600" indent="-228600">
              <a:lnSpc>
                <a:spcPts val="2100"/>
              </a:lnSpc>
              <a:spcAft>
                <a:spcPts val="22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 to the discipline climate of the receiving school and the teaching load offered; shortages concentrate where the climate is worst.</a:t>
            </a:r>
            <a:endParaRPr lang="en-US" sz="1500" dirty="0"/>
          </a:p>
          <a:p>
            <a:pPr algn="l" marL="228600" indent="-228600">
              <a:lnSpc>
                <a:spcPts val="2100"/>
              </a:lnSpc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Organisational factors. </a:t>
            </a:r>
            <a:pPr algn="l" marL="228600" indent="-228600">
              <a:lnSpc>
                <a:spcPts val="2100"/>
              </a:lnSpc>
              <a:spcAft>
                <a:spcPts val="22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is decisive: weak leadership reproduces the first exit. Retired teachers can return as dedicated mentors.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motive teaches re-entry policy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100"/>
              </a:lnSpc>
              <a:buSzPct val="100000"/>
              <a:buFont typeface="+mj-lt"/>
              <a:buAutoNum type="arabicPeriod" startAt="4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and regulation. </a:t>
            </a:r>
            <a:pPr algn="l" marL="228600" indent="-228600">
              <a:lnSpc>
                <a:spcPts val="2100"/>
              </a:lnSpc>
              <a:spcAft>
                <a:spcPts val="2200"/>
              </a:spcAft>
              <a:buSzPct val="100000"/>
              <a:buFont typeface="+mj-lt"/>
              <a:buAutoNum type="arabicPeriod" startAt="4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recertification deserves attention; keep such burdens as low as regulatory purposes allow.</a:t>
            </a:r>
            <a:endParaRPr lang="en-US" sz="1500" dirty="0"/>
          </a:p>
          <a:p>
            <a:pPr algn="l" marL="228600" indent="-228600">
              <a:lnSpc>
                <a:spcPts val="2100"/>
              </a:lnSpc>
              <a:buSzPct val="100000"/>
              <a:buFont typeface="+mj-lt"/>
              <a:buAutoNum type="arabicPeriod" startAt="4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factors. </a:t>
            </a:r>
            <a:pPr algn="l" marL="228600" indent="-228600">
              <a:lnSpc>
                <a:spcPts val="2100"/>
              </a:lnSpc>
              <a:spcAft>
                <a:spcPts val="2200"/>
              </a:spcAft>
              <a:buSzPct val="100000"/>
              <a:buFont typeface="+mj-lt"/>
              <a:buAutoNum type="arabicPeriod" startAt="4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pay retains, but only as long as the payment lasts; the paper draws no further policy lesson in this area.</a:t>
            </a:r>
            <a:endParaRPr lang="en-US" sz="1500" dirty="0"/>
          </a:p>
          <a:p>
            <a:pPr algn="l" marL="228600" indent="-228600">
              <a:lnSpc>
                <a:spcPts val="2100"/>
              </a:lnSpc>
              <a:buSzPct val="100000"/>
              <a:buFont typeface="+mj-lt"/>
              <a:buAutoNum type="arabicPeriod" startAt="4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and life-course factors. </a:t>
            </a:r>
            <a:pPr algn="l" marL="228600" indent="-228600">
              <a:lnSpc>
                <a:spcPts val="2100"/>
              </a:lnSpc>
              <a:spcAft>
                <a:spcPts val="2200"/>
              </a:spcAft>
              <a:buSzPct val="100000"/>
              <a:buFont typeface="+mj-lt"/>
              <a:buAutoNum type="arabicPeriod" startAt="4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exits are not about the school and can ease with time; focus on flexibility through part-time and phased returns, predictable timetables and care-compatible placements.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message for policy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100"/>
              </a:lnSpc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a teacher back without changing the conditions behind the first exit risks reproducing the same decision.</a:t>
            </a:r>
            <a:endParaRPr lang="en-US" sz="1500" dirty="0"/>
          </a:p>
          <a:p>
            <a:pPr algn="l" marL="228600" indent="-228600">
              <a:lnSpc>
                <a:spcPts val="2100"/>
              </a:lnSpc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Re-entry policy is an opportunity to improve the match between teachers and schools: workload, leadership, collegial environment, classroom conditions and flexibility.</a:t>
            </a:r>
            <a:endParaRPr lang="en-US" sz="1500" dirty="0"/>
          </a:p>
          <a:p>
            <a:pPr algn="l" marL="228600" indent="-228600">
              <a:lnSpc>
                <a:spcPts val="2100"/>
              </a:lnSpc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15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relevant question is not how to make former teachers return, but whether the system can offer them a different set of conditions once they do.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2026-09-16T15:41:54Z</dcterms:created>
  <dcterms:modified xsi:type="dcterms:W3CDTF">2026-09-16T15:41:54Z</dcterms:modified>
</cp:coreProperties>
</file>