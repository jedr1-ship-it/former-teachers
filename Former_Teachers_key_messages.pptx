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Former Teachers: Barriers, Incentives and Policy Lessons for Re-entry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 Teacher leaving: rates, determinants and implications for re-entry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015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policy implications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519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Directorate for Education and Skills. Working draft.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teacher leaving rate is stable and unexceptional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25880"/>
            <a:ext cx="7955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OECD average leaving rate was 6.5% in 2023, against 6.9% in 2015; most systems moved by less than one percentage point (OECD, 2025a).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national series, the United States, has oscillated between 5% and 8.5% over three and a half decades, with no lasting pandemic effect (NCES, 2024). Similar stability holds in England, New Zealand, Sweden, Israel, Iceland, Norway and Flanders.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leave at rates similar to nurses and accountants in the United States (Aldeman and Yi, 2025; Harris and Adams, 2007), and the lowest among 97 occupation groups in Australia (Buckley and Griselda, 2025).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France, Greece, Ireland and Israel leaving is almost entirely retirement, so the pool of recoverable teachers is small (OECD, 2025a).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implication. </a:t>
            </a:r>
            <a:pPr algn="l"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exodus to stop; re-entry is a real but bounded margin against shortages.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profiles of former teachers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71600"/>
            <a:ext cx="7955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Switchers </a:t>
            </a:r>
            <a:pPr algn="l" marL="152400" indent="-1524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 from teaching to take up other employment. Central margins: salary, job satisfaction and working conditions.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 </a:t>
            </a:r>
            <a:pPr algn="l" marL="152400" indent="-1524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from the labour market. Central margins: household arrangements and flexibility.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teachers </a:t>
            </a:r>
            <a:pPr algn="l" marL="152400" indent="-1524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end of their working lives. Central margins: pension rules and re-employment possibilities.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determinants of leaving and the opportunity cost of re-entry differ across the three profiles and are highly country dependent.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implication. </a:t>
            </a:r>
            <a:pPr algn="l"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must match the profile of the teacher they aim to recover; no single policy fits the three groups.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conditions and school organisation drive exits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98448"/>
            <a:ext cx="7955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Meta-analyses rank working conditions and organisational support above salary, accountability and personal characteristics (Nguyen et al., 2020; Gundlach, Slemp and Hattie, 2024).</a:t>
            </a:r>
            <a:endParaRPr lang="en-US" sz="1350" dirty="0"/>
          </a:p>
          <a:p>
            <a:pPr algn="l" marL="152400" indent="-1524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 standard deviation improvement in school discipline climate halves the probability of leaving; contracted hours do not predict departures (Sims and Jerrim, 2020).</a:t>
            </a:r>
            <a:endParaRPr lang="en-US" sz="1350" dirty="0"/>
          </a:p>
          <a:p>
            <a:pPr algn="l" marL="152400" indent="-1524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Dissatisfaction with school leadership is among the most cited predictors of departure (Boyd et al., 2011; Ladd, 2011; Simon and Johnson, 2015); when leadership improves, turnover falls (Kraft, Marinell and Shen-Wei Yee, 2016).</a:t>
            </a:r>
            <a:endParaRPr lang="en-US" sz="1350" dirty="0"/>
          </a:p>
          <a:p>
            <a:pPr algn="l" marL="152400" indent="-1524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26% of teachers feel the profession is valued and only 22% of novices have an assigned mentor; recognition and induction support reduce departures (OECD, 2020; OECD, 2025c; Walker et al., 2024).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implication. </a:t>
            </a:r>
            <a:pPr algn="l"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returners in schools with strong leadership and orderly climates; a weak school reproduces the first exit.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incentives retain only while they last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25880"/>
            <a:ext cx="7955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primary teacher salaries average 83% of the earnings of tertiary educated workers across the OECD; only four systems pay at or above parity (OECD, 2025d).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payments cut departures by 9% to 23% in Norway, England and North Carolina (Falch, 2011; Sims and Benhenda, 2022; Clotfelter et al., 2008).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effect lasts only as long as the payment itself (See et al., 2020).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benefit pensions concentrate retirement around the full pension age; actuarially neutral schemes spread it (Costrell and Podgursky, 2009; OECD, 2025e).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implication. </a:t>
            </a:r>
            <a:pPr algn="l"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can reopen the door but does not sustain retention on its own; treat it as a bridge, not a fix.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and life-course factors follow their own logic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25880"/>
            <a:ext cx="7955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leaving rate is U shaped over the career: high among novices and near retirement, stable in between (Nguyen et al., 2020; Guarino, Santibañez and Daley, 2006).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England, 17% to 20% of teachers returning from maternity leave exit within a year, double the rate of comparable teachers (Department for Education, 2023).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reasons, covering health, childcare and the care of relatives, are the main non-retirement motive among voluntary leavers in the United States and Sweden (NCES, 2024; Statistics Sweden, 2023).</a:t>
            </a:r>
            <a:endParaRPr lang="en-US" sz="1400" dirty="0"/>
          </a:p>
          <a:p>
            <a:pPr algn="l"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one in five United States leavers between 2000 and 2019 returned; re-entry is no longer predicted by gender or child rearing (Moyer, 2022; Grissom and Reininger, 2012).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implication. </a:t>
            </a:r>
            <a:pPr algn="l"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exits are not about the school; flexibility through part-time work, phased returns and predictable timetables is the lever.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Implications for re-entry policy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25880"/>
            <a:ext cx="7955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a teacher back without changing the conditions behind the first exit risks repeating it; re-entry policy concerns the quality of the match, not only the cost of returning.</a:t>
            </a:r>
            <a:endParaRPr lang="en-US" sz="1350" dirty="0"/>
          </a:p>
          <a:p>
            <a:pPr algn="l"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matters: the leadership, collegial support and classroom climate of the receiving school are decisive.</a:t>
            </a:r>
            <a:endParaRPr lang="en-US" sz="1350" dirty="0"/>
          </a:p>
          <a:p>
            <a:pPr algn="l"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flexibility to family driven leavers: part-time positions, phased returns and predictable schedules.</a:t>
            </a:r>
            <a:endParaRPr lang="en-US" sz="1350" dirty="0"/>
          </a:p>
          <a:p>
            <a:pPr algn="l"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recertification burdens as low as regulatory purposes allow.</a:t>
            </a:r>
            <a:endParaRPr lang="en-US" sz="1350" dirty="0"/>
          </a:p>
          <a:p>
            <a:pPr algn="l"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retired teachers as mentors and tutors; both roles have experimental support (DeCesare et al., 2017; Nickow, Oreopoulos and Quan, 2024; Papay et al., 2020).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27939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relevant question is not how to make former teachers return, but whether the system can offer them a different set of conditions once they do.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2026-09-16T15:16:34Z</dcterms:created>
  <dcterms:modified xsi:type="dcterms:W3CDTF">2026-09-16T15:16:34Z</dcterms:modified>
</cp:coreProperties>
</file>