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400" kern="0" dirty="0">
                <a:solidFill>
                  <a:srgbClr val="6FB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TEACHERS  ·  SECTION 2  ·  TEACHER LEAVING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54480"/>
            <a:ext cx="7955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research says.</a:t>
            </a:r>
            <a:endParaRPr lang="en-US" sz="4400" dirty="0"/>
          </a:p>
          <a:p>
            <a:pPr algn="l" indent="0" marL="0">
              <a:lnSpc>
                <a:spcPts val="5400"/>
              </a:lnSpc>
              <a:buNone/>
            </a:pPr>
            <a:r>
              <a:rPr lang="en-US" sz="4400" b="1" dirty="0">
                <a:solidFill>
                  <a:srgbClr val="6FB1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policy can do.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033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leaving: rates, determinants and implications for re-entry — in five messages.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791456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D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— Directorate for Education and Skills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400" kern="0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—  WHAT THE RESEARCH SAYS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32688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8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Teachers leave at ordinary rates — and have for decades.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487168"/>
            <a:ext cx="4892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a decade: 6.9% in 2015, 6.5% in 2023, and no lasting mark from the pandemic.</a:t>
            </a:r>
            <a:endParaRPr lang="en-US" sz="1250" dirty="0"/>
          </a:p>
          <a:p>
            <a:pPr algn="l" indent="0" marL="0">
              <a:lnSpc>
                <a:spcPts val="17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line with nurses and accountants in the United States; the lowest of 97 occupation groups in Australia.</a:t>
            </a:r>
            <a:endParaRPr lang="en-US" sz="12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leaving is almost all retirement (France, Greece, Ireland, Israel), the pool of recoverable teachers is small.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715000" y="1325880"/>
            <a:ext cx="2971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563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6.5%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897880" y="2999232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OECD average teacher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rate, 2023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4315968"/>
            <a:ext cx="8010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policy →  </a:t>
            </a:r>
            <a:pPr algn="l" indent="0" marL="0">
              <a:buNone/>
            </a:pPr>
            <a:r>
              <a:rPr lang="en-US" sz="1300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not an exodus — shortages make every exit costly, and re-entry is a real but bounded margin.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791456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OECD (2025a) · NCES (2024) · Aldeman &amp; Yi (2025) · Buckley &amp; Griselda (2025) · Adermon &amp; Laun (2018)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400" kern="0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—  WHAT THE RESEARCH SAYS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326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out. Three different ways back.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836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63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4323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Switchers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8529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resign to take another job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45643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via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conditions, purpose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8836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63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4323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Leavers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529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 from the labour market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345643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via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flexibility, family-compatible returns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016752" y="18836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563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016752" y="24323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Retired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016752" y="28529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the end of the career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016752" y="345643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i="1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via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pension rules, mentor roles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15968"/>
            <a:ext cx="8010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policy →  </a:t>
            </a:r>
            <a:pPr indent="0" marL="0">
              <a:buNone/>
            </a:pPr>
            <a:r>
              <a:rPr lang="en-US" sz="1300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instrument fits the three profiles — diagnose who left before choosing the lever.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400" kern="0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—  WHAT THE RESEARCH SAYS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32688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8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Conditions drive exits more than pay does.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487168"/>
            <a:ext cx="4892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Meta-analyses rank working conditions and school organisation above salary, accountability and personal traits.</a:t>
            </a:r>
            <a:endParaRPr lang="en-US" sz="1250" dirty="0"/>
          </a:p>
          <a:p>
            <a:pPr algn="l" indent="0" marL="0">
              <a:lnSpc>
                <a:spcPts val="17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one-SD better discipline climate halves a teacher’s probability of leaving; contracted hours do not predict exits.</a:t>
            </a:r>
            <a:endParaRPr lang="en-US" sz="12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26% of teachers feel the profession is valued — those who do are over 10% less likely to intend to leave.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715000" y="1325880"/>
            <a:ext cx="2971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0563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½</a:t>
            </a:r>
            <a:endParaRPr lang="en-US" sz="11000" dirty="0"/>
          </a:p>
        </p:txBody>
      </p:sp>
      <p:sp>
        <p:nvSpPr>
          <p:cNvPr id="6" name="Text 4"/>
          <p:cNvSpPr txBox="1"/>
          <p:nvPr/>
        </p:nvSpPr>
        <p:spPr>
          <a:xfrm>
            <a:off x="5897880" y="2999232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probability, with a one-SD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classroom discipline climate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4315968"/>
            <a:ext cx="8010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policy →  </a:t>
            </a:r>
            <a:pPr algn="l" indent="0" marL="0">
              <a:buNone/>
            </a:pPr>
            <a:r>
              <a:rPr lang="en-US" sz="1300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returners where leadership and climate are strong — a weak school reproduces the first exit.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791456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 et al. (2020) · Gundlach, Slemp &amp; Hattie (2024) · Sims &amp; Jerrim (2020) · OECD (2020) · Boyd et al. (2011)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400" kern="0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—  WHAT THE RESEARCH SAYS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32688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8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 retains — only while it flows.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487168"/>
            <a:ext cx="4892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payments cut departures in Norway, England and North Carolina.</a:t>
            </a:r>
            <a:endParaRPr lang="en-US" sz="1250" dirty="0"/>
          </a:p>
          <a:p>
            <a:pPr algn="l" indent="0" marL="0">
              <a:lnSpc>
                <a:spcPts val="17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lasts exactly as long as the payment itself.</a:t>
            </a:r>
            <a:endParaRPr lang="en-US" sz="12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Defined-benefit pensions concentrate retirement around the rules; actuarially neutral schemes spread it.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715000" y="1325880"/>
            <a:ext cx="2971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563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9–23%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897880" y="2999232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departures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the bonus is paid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4315968"/>
            <a:ext cx="8010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policy →  </a:t>
            </a:r>
            <a:pPr algn="l" indent="0" marL="0">
              <a:buNone/>
            </a:pPr>
            <a:r>
              <a:rPr lang="en-US" sz="1300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can reopen the door; it cannot keep anyone in the room. Budget it as a bridge, not a fix.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791456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Falch (2011) · Sims &amp; Benhenda (2022) · Clotfelter et al. (2008) · See et al. (2020) · Costrell &amp; Podgursky (2009)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400" kern="0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—  WHAT THE RESEARCH SAYS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32688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8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exits are different — and returns no longer happen on their own.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487168"/>
            <a:ext cx="4892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England, 17–20% of teachers back from maternity leave exit within a year — double the comparable rate.</a:t>
            </a:r>
            <a:endParaRPr lang="en-US" sz="1250" dirty="0"/>
          </a:p>
          <a:p>
            <a:pPr algn="l" indent="0" marL="0">
              <a:lnSpc>
                <a:spcPts val="17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US, re-entry is no longer predicted by gender or child-rearing.</a:t>
            </a:r>
            <a:endParaRPr lang="en-US" sz="12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exits are not about the school — the constraint behind them can ease with time.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715000" y="1325880"/>
            <a:ext cx="2971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563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5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897880" y="2999232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leavers (2000–2019)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6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ever returned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4315968"/>
            <a:ext cx="8010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policy →  </a:t>
            </a:r>
            <a:pPr algn="l" indent="0" marL="0">
              <a:buNone/>
            </a:pPr>
            <a:r>
              <a:rPr lang="en-US" sz="1300" dirty="0">
                <a:solidFill>
                  <a:srgbClr val="056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 is the lever — part-time and phased returns, predictable timetables, care-compatible placements.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791456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6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for Education (2023) · Moyer (2022) · Grissom &amp; Reininger (2012) · Stinebrickner (2002)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400" kern="0" dirty="0">
                <a:solidFill>
                  <a:srgbClr val="6FB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 FOR POLICY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96112"/>
            <a:ext cx="7955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Don’t buy the return.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what they return 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54203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FB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well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84378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B9C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leadership, sound climate, a sane teaching load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636008" y="254203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FB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flexible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636008" y="284378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B9C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part-time, phased returns, predictable timetables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3814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FB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re-entry light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3989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B9C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recertification at the minimum burden regulation allows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343814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FB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experience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373989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B9C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retirees as mentors and tutors — both with experimental backing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407408"/>
            <a:ext cx="8010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i="1" dirty="0">
                <a:solidFill>
                  <a:srgbClr val="6FB1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question is not how to make former teachers return — but whether the system can offer them a different set of conditions once they do.”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2026-09-16T15:04:10Z</dcterms:created>
  <dcterms:modified xsi:type="dcterms:W3CDTF">2026-09-16T15:04:10Z</dcterms:modified>
</cp:coreProperties>
</file>